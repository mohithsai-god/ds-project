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904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</dgm:ptLst>
  <dgm:cxnLst>
    <dgm:cxn modelId="{A75C22F5-3598-4238-8804-0495FFF72458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11 September 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11 September 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11 September 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11 September 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11 September 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11 September 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11 September 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11 September 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11 September 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11 September 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11 September 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11 September 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xmlns="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192272"/>
              </p:ext>
            </p:extLst>
          </p:nvPr>
        </p:nvGraphicFramePr>
        <p:xfrm>
          <a:off x="8193271" y="4898509"/>
          <a:ext cx="3702050" cy="1158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xmlns="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just" defTabSz="914400" rtl="0" eaLnBrk="1" latinLnBrk="0" hangingPunct="1"/>
                      <a:r>
                        <a:rPr lang="en-IN" sz="18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K.Akshitha        – 2420030146</a:t>
                      </a:r>
                    </a:p>
                    <a:p>
                      <a:pPr marL="0" algn="just" defTabSz="914400" rtl="0" eaLnBrk="1" latinLnBrk="0" hangingPunct="1"/>
                      <a:r>
                        <a:rPr lang="en-IN" sz="18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K.Sree Vardhan - 2420030711</a:t>
                      </a:r>
                    </a:p>
                    <a:p>
                      <a:pPr marL="0" algn="just" defTabSz="914400" rtl="0" eaLnBrk="1" latinLnBrk="0" hangingPunct="1"/>
                      <a:r>
                        <a:rPr lang="en-IN" sz="18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T.Mohith Sai      - 2420030723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xmlns="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xmlns="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xmlns="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078499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xmlns="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xmlns="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Dr.N.Sunanda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xmlns="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xmlns="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xmlns="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xmlns="" id="{4EE5F681-D3B5-BC4B-8AA4-5688DCEEFB44}"/>
              </a:ext>
            </a:extLst>
          </p:cNvPr>
          <p:cNvSpPr/>
          <p:nvPr/>
        </p:nvSpPr>
        <p:spPr>
          <a:xfrm>
            <a:off x="687804" y="74283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Movie Recommendation System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48938" y="2327226"/>
            <a:ext cx="9393382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4000" b="1" dirty="0">
                <a:solidFill>
                  <a:srgbClr val="69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</a:t>
            </a:r>
            <a:r>
              <a:rPr sz="4000" b="1" dirty="0">
                <a:solidFill>
                  <a:srgbClr val="69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Review – </a:t>
            </a:r>
            <a:r>
              <a:rPr lang="en-US" sz="4000" b="1" dirty="0">
                <a:solidFill>
                  <a:srgbClr val="696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4000" b="1" dirty="0">
              <a:solidFill>
                <a:srgbClr val="69697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326880" y="6080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dirty="0">
                <a:solidFill>
                  <a:srgbClr val="69697D"/>
                </a:solidFill>
                <a:latin typeface="Aptos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/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xmlns="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xmlns="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xmlns="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xmlns="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xmlns="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xmlns="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xmlns="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xmlns="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xmlns="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2"/>
                </a:ext>
                <a:ext uri="{837473B0-CC2E-450A-ABE3-18F120FF3D39}">
                  <a1611:picAttrSrcUrl xmlns:a1611="http://schemas.microsoft.com/office/drawing/2016/11/main" xmlns="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xmlns="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836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789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61434"/>
                </a:solidFill>
                <a:latin typeface="Aptos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731520" cy="41148"/>
          </a:xfrm>
          <a:prstGeom prst="rect">
            <a:avLst/>
          </a:prstGeom>
          <a:solidFill>
            <a:srgbClr val="EF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5D4CAA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498348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D2D41"/>
                </a:solidFill>
                <a:latin typeface="Aptos"/>
              </a:rPr>
              <a:t>Users face information overload when choosing movies. Traditional platforms often rely on popularity, genre or simple similarity, which may not reflect an individual user's evolving taste or current mood.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143000"/>
            <a:ext cx="38404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5D4CAA"/>
                </a:solidFill>
                <a:latin typeface="Aptos"/>
              </a:rPr>
              <a:t>Our 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572768"/>
            <a:ext cx="4892040" cy="2008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 dirty="0"/>
              <a:t>• Build a personalized movie discovery platform.</a:t>
            </a:r>
          </a:p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 dirty="0"/>
              <a:t>• Combine movie content, user preferences and interaction history.</a:t>
            </a:r>
          </a:p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 dirty="0"/>
              <a:t>• Provide recommendations with a clear explanation of why a title matches.</a:t>
            </a:r>
          </a:p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 dirty="0"/>
              <a:t>• Require authentication so user preferences and watchlists can be personalized.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86200"/>
            <a:ext cx="3337560" cy="1325880"/>
          </a:xfrm>
          <a:prstGeom prst="roundRect">
            <a:avLst/>
          </a:prstGeom>
          <a:solidFill>
            <a:srgbClr val="F4F3FA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1" name="Rectangle 10"/>
          <p:cNvSpPr/>
          <p:nvPr/>
        </p:nvSpPr>
        <p:spPr>
          <a:xfrm>
            <a:off x="777240" y="3886200"/>
            <a:ext cx="64008" cy="1325880"/>
          </a:xfrm>
          <a:prstGeom prst="rect">
            <a:avLst/>
          </a:prstGeom>
          <a:solidFill>
            <a:srgbClr val="EF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941832" y="3995928"/>
            <a:ext cx="3063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61434"/>
                </a:solidFill>
                <a:latin typeface="Aptos"/>
              </a:rPr>
              <a:t>User Pain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361688"/>
            <a:ext cx="30632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69697D"/>
                </a:solidFill>
                <a:latin typeface="Aptos"/>
              </a:rPr>
              <a:t>Too many choices and repetitive recommendations.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886200"/>
            <a:ext cx="3337560" cy="1325880"/>
          </a:xfrm>
          <a:prstGeom prst="roundRect">
            <a:avLst/>
          </a:prstGeom>
          <a:solidFill>
            <a:srgbClr val="F4F3FA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5" name="Rectangle 14"/>
          <p:cNvSpPr/>
          <p:nvPr/>
        </p:nvSpPr>
        <p:spPr>
          <a:xfrm>
            <a:off x="4343400" y="3886200"/>
            <a:ext cx="64008" cy="1325880"/>
          </a:xfrm>
          <a:prstGeom prst="rect">
            <a:avLst/>
          </a:prstGeom>
          <a:solidFill>
            <a:srgbClr val="5D4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4507992" y="3995928"/>
            <a:ext cx="30632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61434"/>
                </a:solidFill>
                <a:latin typeface="Aptos"/>
              </a:rPr>
              <a:t>Technical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4361688"/>
            <a:ext cx="30632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69697D"/>
                </a:solidFill>
                <a:latin typeface="Aptos"/>
              </a:rPr>
              <a:t>Ranking movies using multiple preference signals.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3886200"/>
            <a:ext cx="3063240" cy="1325880"/>
          </a:xfrm>
          <a:prstGeom prst="roundRect">
            <a:avLst/>
          </a:prstGeom>
          <a:solidFill>
            <a:srgbClr val="F4F3FA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9" name="Rectangle 18"/>
          <p:cNvSpPr/>
          <p:nvPr/>
        </p:nvSpPr>
        <p:spPr>
          <a:xfrm>
            <a:off x="7909560" y="3886200"/>
            <a:ext cx="64008" cy="1325880"/>
          </a:xfrm>
          <a:prstGeom prst="rect">
            <a:avLst/>
          </a:prstGeom>
          <a:solidFill>
            <a:srgbClr val="47A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8074152" y="3995928"/>
            <a:ext cx="2788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61434"/>
                </a:solidFill>
                <a:latin typeface="Aptos"/>
              </a:rPr>
              <a:t>Expected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4361688"/>
            <a:ext cx="27889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69697D"/>
                </a:solidFill>
                <a:latin typeface="Aptos"/>
              </a:rPr>
              <a:t>Faster, more relevant and explainable discovery.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789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61434"/>
                </a:solidFill>
                <a:latin typeface="Aptos"/>
              </a:rPr>
              <a:t>Research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731520" cy="41148"/>
          </a:xfrm>
          <a:prstGeom prst="rect">
            <a:avLst/>
          </a:prstGeom>
          <a:solidFill>
            <a:srgbClr val="EF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822960" y="11430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7" name="Rectangle 6"/>
          <p:cNvSpPr/>
          <p:nvPr/>
        </p:nvSpPr>
        <p:spPr>
          <a:xfrm>
            <a:off x="822960" y="1143000"/>
            <a:ext cx="64008" cy="1234440"/>
          </a:xfrm>
          <a:prstGeom prst="rect">
            <a:avLst/>
          </a:prstGeom>
          <a:solidFill>
            <a:srgbClr val="5D4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987552" y="1252728"/>
            <a:ext cx="4800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61434"/>
                </a:solidFill>
                <a:latin typeface="Aptos"/>
              </a:rPr>
              <a:t>Personalization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618488"/>
            <a:ext cx="4800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69697D"/>
                </a:solidFill>
                <a:latin typeface="Aptos"/>
              </a:rPr>
              <a:t>Recommend movies based on user taste, ratings and watch behavior.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1" name="Rectangle 10"/>
          <p:cNvSpPr/>
          <p:nvPr/>
        </p:nvSpPr>
        <p:spPr>
          <a:xfrm>
            <a:off x="6309360" y="1143000"/>
            <a:ext cx="64008" cy="1234440"/>
          </a:xfrm>
          <a:prstGeom prst="rect">
            <a:avLst/>
          </a:prstGeom>
          <a:solidFill>
            <a:srgbClr val="EF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473952" y="1252728"/>
            <a:ext cx="4800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61434"/>
                </a:solidFill>
                <a:latin typeface="Aptos"/>
              </a:rPr>
              <a:t>Hybrid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618488"/>
            <a:ext cx="4800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69697D"/>
                </a:solidFill>
                <a:latin typeface="Aptos"/>
              </a:rPr>
              <a:t>Combine content similarity, popularity and user interaction signals.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69748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5" name="Rectangle 14"/>
          <p:cNvSpPr/>
          <p:nvPr/>
        </p:nvSpPr>
        <p:spPr>
          <a:xfrm>
            <a:off x="822960" y="2697480"/>
            <a:ext cx="64008" cy="1234440"/>
          </a:xfrm>
          <a:prstGeom prst="rect">
            <a:avLst/>
          </a:prstGeom>
          <a:solidFill>
            <a:srgbClr val="47A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987552" y="2807208"/>
            <a:ext cx="4800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61434"/>
                </a:solidFill>
                <a:latin typeface="Aptos"/>
              </a:rPr>
              <a:t>Mood-Based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172968"/>
            <a:ext cx="4800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69697D"/>
                </a:solidFill>
                <a:latin typeface="Aptos"/>
              </a:rPr>
              <a:t>Allow users to discover titles suited to moods such as happy, emotional or thrilling.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69748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9" name="Rectangle 18"/>
          <p:cNvSpPr/>
          <p:nvPr/>
        </p:nvSpPr>
        <p:spPr>
          <a:xfrm>
            <a:off x="6309360" y="2697480"/>
            <a:ext cx="64008" cy="1234440"/>
          </a:xfrm>
          <a:prstGeom prst="rect">
            <a:avLst/>
          </a:prstGeom>
          <a:solidFill>
            <a:srgbClr val="5D4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20" name="TextBox 19"/>
          <p:cNvSpPr txBox="1"/>
          <p:nvPr/>
        </p:nvSpPr>
        <p:spPr>
          <a:xfrm>
            <a:off x="6473952" y="2807208"/>
            <a:ext cx="4800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61434"/>
                </a:solidFill>
                <a:latin typeface="Aptos"/>
              </a:rPr>
              <a:t>Explainable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172968"/>
            <a:ext cx="4800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69697D"/>
                </a:solidFill>
                <a:latin typeface="Aptos"/>
              </a:rPr>
              <a:t>Show understandable reasons behind each recommendation.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5196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23" name="Rectangle 22"/>
          <p:cNvSpPr/>
          <p:nvPr/>
        </p:nvSpPr>
        <p:spPr>
          <a:xfrm>
            <a:off x="822960" y="4251960"/>
            <a:ext cx="64008" cy="1234440"/>
          </a:xfrm>
          <a:prstGeom prst="rect">
            <a:avLst/>
          </a:prstGeom>
          <a:solidFill>
            <a:srgbClr val="EF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987552" y="4361688"/>
            <a:ext cx="4800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61434"/>
                </a:solidFill>
                <a:latin typeface="Aptos"/>
              </a:rPr>
              <a:t>Secure Full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4727448"/>
            <a:ext cx="4800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69697D"/>
                </a:solidFill>
                <a:latin typeface="Aptos"/>
              </a:rPr>
              <a:t>Implement authentication, hashed passwords, sessions and persistent user data.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25196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27" name="Rectangle 26"/>
          <p:cNvSpPr/>
          <p:nvPr/>
        </p:nvSpPr>
        <p:spPr>
          <a:xfrm>
            <a:off x="6309360" y="4251960"/>
            <a:ext cx="64008" cy="1234440"/>
          </a:xfrm>
          <a:prstGeom prst="rect">
            <a:avLst/>
          </a:prstGeom>
          <a:solidFill>
            <a:srgbClr val="47A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28" name="TextBox 27"/>
          <p:cNvSpPr txBox="1"/>
          <p:nvPr/>
        </p:nvSpPr>
        <p:spPr>
          <a:xfrm>
            <a:off x="6473952" y="4361688"/>
            <a:ext cx="4800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61434"/>
                </a:solidFill>
                <a:latin typeface="Aptos"/>
              </a:rPr>
              <a:t>Usable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727448"/>
            <a:ext cx="4800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69697D"/>
                </a:solidFill>
                <a:latin typeface="Aptos"/>
              </a:rPr>
              <a:t>Deliver a responsive cinematic UI with search, watchlist and trailer access.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34440"/>
            <a:ext cx="1828800" cy="502920"/>
          </a:xfrm>
          <a:prstGeom prst="rect">
            <a:avLst/>
          </a:prstGeom>
          <a:solidFill>
            <a:srgbClr val="1614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14" name="Rectangle 13"/>
          <p:cNvSpPr/>
          <p:nvPr/>
        </p:nvSpPr>
        <p:spPr>
          <a:xfrm>
            <a:off x="2423160" y="1234440"/>
            <a:ext cx="2971800" cy="502920"/>
          </a:xfrm>
          <a:prstGeom prst="rect">
            <a:avLst/>
          </a:prstGeom>
          <a:solidFill>
            <a:srgbClr val="1614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16" name="Rectangle 15"/>
          <p:cNvSpPr/>
          <p:nvPr/>
        </p:nvSpPr>
        <p:spPr>
          <a:xfrm>
            <a:off x="5394960" y="1234440"/>
            <a:ext cx="3063240" cy="502920"/>
          </a:xfrm>
          <a:prstGeom prst="rect">
            <a:avLst/>
          </a:prstGeom>
          <a:solidFill>
            <a:srgbClr val="1614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18" name="Rectangle 17"/>
          <p:cNvSpPr/>
          <p:nvPr/>
        </p:nvSpPr>
        <p:spPr>
          <a:xfrm>
            <a:off x="8458200" y="1234440"/>
            <a:ext cx="2880360" cy="502920"/>
          </a:xfrm>
          <a:prstGeom prst="rect">
            <a:avLst/>
          </a:prstGeom>
          <a:solidFill>
            <a:srgbClr val="1614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20" name="Rectangle 19"/>
          <p:cNvSpPr/>
          <p:nvPr/>
        </p:nvSpPr>
        <p:spPr>
          <a:xfrm>
            <a:off x="594360" y="1737360"/>
            <a:ext cx="1828800" cy="1078992"/>
          </a:xfrm>
          <a:prstGeom prst="rect">
            <a:avLst/>
          </a:prstGeom>
          <a:solidFill>
            <a:srgbClr val="F4F3FA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22" name="Rectangle 21"/>
          <p:cNvSpPr/>
          <p:nvPr/>
        </p:nvSpPr>
        <p:spPr>
          <a:xfrm>
            <a:off x="2423160" y="1737360"/>
            <a:ext cx="2971800" cy="1078992"/>
          </a:xfrm>
          <a:prstGeom prst="rect">
            <a:avLst/>
          </a:prstGeom>
          <a:solidFill>
            <a:srgbClr val="F4F3FA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24" name="Rectangle 23"/>
          <p:cNvSpPr/>
          <p:nvPr/>
        </p:nvSpPr>
        <p:spPr>
          <a:xfrm>
            <a:off x="5394960" y="1737360"/>
            <a:ext cx="3063240" cy="1078992"/>
          </a:xfrm>
          <a:prstGeom prst="rect">
            <a:avLst/>
          </a:prstGeom>
          <a:solidFill>
            <a:srgbClr val="F4F3FA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26" name="Rectangle 25"/>
          <p:cNvSpPr/>
          <p:nvPr/>
        </p:nvSpPr>
        <p:spPr>
          <a:xfrm>
            <a:off x="8458200" y="1737360"/>
            <a:ext cx="2880360" cy="1078992"/>
          </a:xfrm>
          <a:prstGeom prst="rect">
            <a:avLst/>
          </a:prstGeom>
          <a:solidFill>
            <a:srgbClr val="F4F3FA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28" name="Rectangle 27"/>
          <p:cNvSpPr/>
          <p:nvPr/>
        </p:nvSpPr>
        <p:spPr>
          <a:xfrm>
            <a:off x="594360" y="2816352"/>
            <a:ext cx="1828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30" name="Rectangle 29"/>
          <p:cNvSpPr/>
          <p:nvPr/>
        </p:nvSpPr>
        <p:spPr>
          <a:xfrm>
            <a:off x="2423160" y="2816352"/>
            <a:ext cx="2971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32" name="Rectangle 31"/>
          <p:cNvSpPr/>
          <p:nvPr/>
        </p:nvSpPr>
        <p:spPr>
          <a:xfrm>
            <a:off x="5394960" y="2816352"/>
            <a:ext cx="306324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34" name="Rectangle 33"/>
          <p:cNvSpPr/>
          <p:nvPr/>
        </p:nvSpPr>
        <p:spPr>
          <a:xfrm>
            <a:off x="8458200" y="2816352"/>
            <a:ext cx="288036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36" name="Rectangle 35"/>
          <p:cNvSpPr/>
          <p:nvPr/>
        </p:nvSpPr>
        <p:spPr>
          <a:xfrm>
            <a:off x="594360" y="3895344"/>
            <a:ext cx="1828800" cy="1078992"/>
          </a:xfrm>
          <a:prstGeom prst="rect">
            <a:avLst/>
          </a:prstGeom>
          <a:solidFill>
            <a:srgbClr val="F4F3FA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38" name="Rectangle 37"/>
          <p:cNvSpPr/>
          <p:nvPr/>
        </p:nvSpPr>
        <p:spPr>
          <a:xfrm>
            <a:off x="2423160" y="3895344"/>
            <a:ext cx="2971800" cy="1078992"/>
          </a:xfrm>
          <a:prstGeom prst="rect">
            <a:avLst/>
          </a:prstGeom>
          <a:solidFill>
            <a:srgbClr val="F4F3FA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40" name="Rectangle 39"/>
          <p:cNvSpPr/>
          <p:nvPr/>
        </p:nvSpPr>
        <p:spPr>
          <a:xfrm>
            <a:off x="5394960" y="3895344"/>
            <a:ext cx="3063240" cy="1078992"/>
          </a:xfrm>
          <a:prstGeom prst="rect">
            <a:avLst/>
          </a:prstGeom>
          <a:solidFill>
            <a:srgbClr val="F4F3FA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42" name="Rectangle 41"/>
          <p:cNvSpPr/>
          <p:nvPr/>
        </p:nvSpPr>
        <p:spPr>
          <a:xfrm>
            <a:off x="8458200" y="3895344"/>
            <a:ext cx="2880360" cy="1078992"/>
          </a:xfrm>
          <a:prstGeom prst="rect">
            <a:avLst/>
          </a:prstGeom>
          <a:solidFill>
            <a:srgbClr val="F4F3FA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44" name="Rectangle 43"/>
          <p:cNvSpPr/>
          <p:nvPr/>
        </p:nvSpPr>
        <p:spPr>
          <a:xfrm>
            <a:off x="594360" y="4974336"/>
            <a:ext cx="1828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46" name="Rectangle 45"/>
          <p:cNvSpPr/>
          <p:nvPr/>
        </p:nvSpPr>
        <p:spPr>
          <a:xfrm>
            <a:off x="2423160" y="4974336"/>
            <a:ext cx="29718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48" name="Rectangle 47"/>
          <p:cNvSpPr/>
          <p:nvPr/>
        </p:nvSpPr>
        <p:spPr>
          <a:xfrm>
            <a:off x="5394960" y="4974336"/>
            <a:ext cx="306324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50" name="Rectangle 49"/>
          <p:cNvSpPr/>
          <p:nvPr/>
        </p:nvSpPr>
        <p:spPr>
          <a:xfrm>
            <a:off x="8458200" y="4974336"/>
            <a:ext cx="288036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51" name="TextBox 50"/>
          <p:cNvSpPr txBox="1"/>
          <p:nvPr/>
        </p:nvSpPr>
        <p:spPr>
          <a:xfrm>
            <a:off x="640080" y="256032"/>
            <a:ext cx="10698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1A193C"/>
                </a:solidFill>
                <a:latin typeface="Aptos"/>
              </a:rPr>
              <a:t>Literature Survey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731520"/>
            <a:ext cx="10698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646378"/>
                </a:solidFill>
                <a:latin typeface="Aptos"/>
              </a:rPr>
              <a:t>Selected research directions supporting CineMatch AI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1143000"/>
            <a:ext cx="1325880" cy="475488"/>
          </a:xfrm>
          <a:prstGeom prst="roundRect">
            <a:avLst/>
          </a:prstGeom>
          <a:solidFill>
            <a:srgbClr val="1A193C"/>
          </a:solidFill>
          <a:ln>
            <a:solidFill>
              <a:srgbClr val="1A1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54" name="TextBox 53"/>
          <p:cNvSpPr txBox="1"/>
          <p:nvPr/>
        </p:nvSpPr>
        <p:spPr>
          <a:xfrm>
            <a:off x="539496" y="1243584"/>
            <a:ext cx="12527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Authors / Year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828800" y="1143000"/>
            <a:ext cx="2331720" cy="475488"/>
          </a:xfrm>
          <a:prstGeom prst="roundRect">
            <a:avLst/>
          </a:prstGeom>
          <a:solidFill>
            <a:srgbClr val="1A193C"/>
          </a:solidFill>
          <a:ln>
            <a:solidFill>
              <a:srgbClr val="1A1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56" name="TextBox 55"/>
          <p:cNvSpPr txBox="1"/>
          <p:nvPr/>
        </p:nvSpPr>
        <p:spPr>
          <a:xfrm>
            <a:off x="1865376" y="1243584"/>
            <a:ext cx="2258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Paper / Focus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60520" y="1143000"/>
            <a:ext cx="2331720" cy="475488"/>
          </a:xfrm>
          <a:prstGeom prst="roundRect">
            <a:avLst/>
          </a:prstGeom>
          <a:solidFill>
            <a:srgbClr val="1A193C"/>
          </a:solidFill>
          <a:ln>
            <a:solidFill>
              <a:srgbClr val="1A1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4197096" y="1243584"/>
            <a:ext cx="22585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Methodology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92240" y="1143000"/>
            <a:ext cx="2423160" cy="475488"/>
          </a:xfrm>
          <a:prstGeom prst="roundRect">
            <a:avLst/>
          </a:prstGeom>
          <a:solidFill>
            <a:srgbClr val="1A193C"/>
          </a:solidFill>
          <a:ln>
            <a:solidFill>
              <a:srgbClr val="1A1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60" name="TextBox 59"/>
          <p:cNvSpPr txBox="1"/>
          <p:nvPr/>
        </p:nvSpPr>
        <p:spPr>
          <a:xfrm>
            <a:off x="6528816" y="1243584"/>
            <a:ext cx="2350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Key Inference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15400" y="1143000"/>
            <a:ext cx="2423160" cy="475488"/>
          </a:xfrm>
          <a:prstGeom prst="roundRect">
            <a:avLst/>
          </a:prstGeom>
          <a:solidFill>
            <a:srgbClr val="1A193C"/>
          </a:solidFill>
          <a:ln>
            <a:solidFill>
              <a:srgbClr val="1A1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62" name="TextBox 61"/>
          <p:cNvSpPr txBox="1"/>
          <p:nvPr/>
        </p:nvSpPr>
        <p:spPr>
          <a:xfrm>
            <a:off x="8951976" y="1243584"/>
            <a:ext cx="23500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Limitation / Future Work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1618488"/>
            <a:ext cx="1325880" cy="1115568"/>
          </a:xfrm>
          <a:prstGeom prst="rect">
            <a:avLst/>
          </a:prstGeom>
          <a:solidFill>
            <a:srgbClr val="F8F7FC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64" name="TextBox 63"/>
          <p:cNvSpPr txBox="1"/>
          <p:nvPr/>
        </p:nvSpPr>
        <p:spPr>
          <a:xfrm>
            <a:off x="557784" y="1691640"/>
            <a:ext cx="1216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373648"/>
                </a:solidFill>
                <a:latin typeface="Aptos"/>
              </a:rPr>
              <a:t>Adomavicius &amp; Tuzhilin
(2005)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28800" y="1618488"/>
            <a:ext cx="2331720" cy="1115568"/>
          </a:xfrm>
          <a:prstGeom prst="rect">
            <a:avLst/>
          </a:prstGeom>
          <a:solidFill>
            <a:srgbClr val="F8F7FC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66" name="TextBox 65"/>
          <p:cNvSpPr txBox="1"/>
          <p:nvPr/>
        </p:nvSpPr>
        <p:spPr>
          <a:xfrm>
            <a:off x="1883664" y="1691640"/>
            <a:ext cx="22219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73648"/>
                </a:solidFill>
                <a:latin typeface="Aptos"/>
              </a:rPr>
              <a:t>Toward the Next Generation of Recommender Systems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60520" y="1618488"/>
            <a:ext cx="2331720" cy="1115568"/>
          </a:xfrm>
          <a:prstGeom prst="rect">
            <a:avLst/>
          </a:prstGeom>
          <a:solidFill>
            <a:srgbClr val="F8F7FC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68" name="TextBox 67"/>
          <p:cNvSpPr txBox="1"/>
          <p:nvPr/>
        </p:nvSpPr>
        <p:spPr>
          <a:xfrm>
            <a:off x="4215383" y="1691640"/>
            <a:ext cx="2221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73648"/>
                </a:solidFill>
                <a:latin typeface="Aptos"/>
              </a:rPr>
              <a:t>Survey of collaborative, content-based and hybrid recommendation techniques.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1618488"/>
            <a:ext cx="2423160" cy="1115568"/>
          </a:xfrm>
          <a:prstGeom prst="rect">
            <a:avLst/>
          </a:prstGeom>
          <a:solidFill>
            <a:srgbClr val="F8F7FC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70" name="TextBox 69"/>
          <p:cNvSpPr txBox="1"/>
          <p:nvPr/>
        </p:nvSpPr>
        <p:spPr>
          <a:xfrm>
            <a:off x="6547103" y="1691640"/>
            <a:ext cx="23134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73648"/>
                </a:solidFill>
                <a:latin typeface="Aptos"/>
              </a:rPr>
              <a:t>Combining multiple recommendation strategies can improve personalization and robustness.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15400" y="1618488"/>
            <a:ext cx="2423160" cy="1115568"/>
          </a:xfrm>
          <a:prstGeom prst="rect">
            <a:avLst/>
          </a:prstGeom>
          <a:solidFill>
            <a:srgbClr val="F8F7FC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72" name="TextBox 71"/>
          <p:cNvSpPr txBox="1"/>
          <p:nvPr/>
        </p:nvSpPr>
        <p:spPr>
          <a:xfrm>
            <a:off x="8970264" y="1691640"/>
            <a:ext cx="23134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73648"/>
                </a:solidFill>
                <a:latin typeface="Aptos"/>
              </a:rPr>
              <a:t>Hybrid models need careful design; future systems should handle richer context and user needs.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2734056"/>
            <a:ext cx="132588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74" name="TextBox 73"/>
          <p:cNvSpPr txBox="1"/>
          <p:nvPr/>
        </p:nvSpPr>
        <p:spPr>
          <a:xfrm>
            <a:off x="557784" y="2807208"/>
            <a:ext cx="1216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373648"/>
                </a:solidFill>
                <a:latin typeface="Aptos"/>
              </a:rPr>
              <a:t>Burke
(2002)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828800" y="2734056"/>
            <a:ext cx="233172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76" name="TextBox 75"/>
          <p:cNvSpPr txBox="1"/>
          <p:nvPr/>
        </p:nvSpPr>
        <p:spPr>
          <a:xfrm>
            <a:off x="1883664" y="2807208"/>
            <a:ext cx="2221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73648"/>
                </a:solidFill>
                <a:latin typeface="Aptos"/>
              </a:rPr>
              <a:t>Hybrid Recommender Systems: Survey and Experiments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160520" y="2734056"/>
            <a:ext cx="233172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78" name="TextBox 77"/>
          <p:cNvSpPr txBox="1"/>
          <p:nvPr/>
        </p:nvSpPr>
        <p:spPr>
          <a:xfrm>
            <a:off x="4215383" y="2807208"/>
            <a:ext cx="2221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73648"/>
                </a:solidFill>
                <a:latin typeface="Aptos"/>
              </a:rPr>
              <a:t>Combines recommendation techniques through weighted, switching and mixed strategies.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92240" y="2734056"/>
            <a:ext cx="242316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80" name="TextBox 79"/>
          <p:cNvSpPr txBox="1"/>
          <p:nvPr/>
        </p:nvSpPr>
        <p:spPr>
          <a:xfrm>
            <a:off x="6547103" y="2807208"/>
            <a:ext cx="2313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73648"/>
                </a:solidFill>
                <a:latin typeface="Aptos"/>
              </a:rPr>
              <a:t>Hybridization can reduce weaknesses of individual recommendation approaches.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15400" y="2734056"/>
            <a:ext cx="242316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82" name="TextBox 81"/>
          <p:cNvSpPr txBox="1"/>
          <p:nvPr/>
        </p:nvSpPr>
        <p:spPr>
          <a:xfrm>
            <a:off x="8970264" y="2807208"/>
            <a:ext cx="2313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73648"/>
                </a:solidFill>
                <a:latin typeface="Aptos"/>
              </a:rPr>
              <a:t>Model complexity and weighting can increase; evaluation is important.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2920" y="3849624"/>
            <a:ext cx="1325880" cy="1115568"/>
          </a:xfrm>
          <a:prstGeom prst="rect">
            <a:avLst/>
          </a:prstGeom>
          <a:solidFill>
            <a:srgbClr val="F8F7FC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84" name="TextBox 83"/>
          <p:cNvSpPr txBox="1"/>
          <p:nvPr/>
        </p:nvSpPr>
        <p:spPr>
          <a:xfrm>
            <a:off x="557784" y="3922776"/>
            <a:ext cx="1216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373648"/>
                </a:solidFill>
                <a:latin typeface="Aptos"/>
              </a:rPr>
              <a:t>Zhang &amp; Chen
(2020)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828800" y="3849624"/>
            <a:ext cx="2331720" cy="1115568"/>
          </a:xfrm>
          <a:prstGeom prst="rect">
            <a:avLst/>
          </a:prstGeom>
          <a:solidFill>
            <a:srgbClr val="F8F7FC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86" name="TextBox 85"/>
          <p:cNvSpPr txBox="1"/>
          <p:nvPr/>
        </p:nvSpPr>
        <p:spPr>
          <a:xfrm>
            <a:off x="1883664" y="3922776"/>
            <a:ext cx="2221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73648"/>
                </a:solidFill>
                <a:latin typeface="Aptos"/>
              </a:rPr>
              <a:t>Explainable Recommendation: A Survey and New Perspectives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60520" y="3849624"/>
            <a:ext cx="2331720" cy="1115568"/>
          </a:xfrm>
          <a:prstGeom prst="rect">
            <a:avLst/>
          </a:prstGeom>
          <a:solidFill>
            <a:srgbClr val="F8F7FC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88" name="TextBox 87"/>
          <p:cNvSpPr txBox="1"/>
          <p:nvPr/>
        </p:nvSpPr>
        <p:spPr>
          <a:xfrm>
            <a:off x="4215383" y="3922776"/>
            <a:ext cx="2221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73648"/>
                </a:solidFill>
                <a:latin typeface="Aptos"/>
              </a:rPr>
              <a:t>Reviews explainable recommendation using user, item and interaction information.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492240" y="3849624"/>
            <a:ext cx="2423160" cy="1115568"/>
          </a:xfrm>
          <a:prstGeom prst="rect">
            <a:avLst/>
          </a:prstGeom>
          <a:solidFill>
            <a:srgbClr val="F8F7FC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90" name="TextBox 89"/>
          <p:cNvSpPr txBox="1"/>
          <p:nvPr/>
        </p:nvSpPr>
        <p:spPr>
          <a:xfrm>
            <a:off x="6547103" y="3922776"/>
            <a:ext cx="2313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73648"/>
                </a:solidFill>
                <a:latin typeface="Aptos"/>
              </a:rPr>
              <a:t>Explanations can improve transparency and help users understand recommendations.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15400" y="3849624"/>
            <a:ext cx="2423160" cy="1115568"/>
          </a:xfrm>
          <a:prstGeom prst="rect">
            <a:avLst/>
          </a:prstGeom>
          <a:solidFill>
            <a:srgbClr val="F8F7FC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92" name="TextBox 91"/>
          <p:cNvSpPr txBox="1"/>
          <p:nvPr/>
        </p:nvSpPr>
        <p:spPr>
          <a:xfrm>
            <a:off x="8970264" y="3922776"/>
            <a:ext cx="2313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73648"/>
                </a:solidFill>
                <a:latin typeface="Aptos"/>
              </a:rPr>
              <a:t>Explanations should remain faithful, useful and easy for users to interpret.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02920" y="4965192"/>
            <a:ext cx="132588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94" name="TextBox 93"/>
          <p:cNvSpPr txBox="1"/>
          <p:nvPr/>
        </p:nvSpPr>
        <p:spPr>
          <a:xfrm>
            <a:off x="557784" y="5038344"/>
            <a:ext cx="12161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373648"/>
                </a:solidFill>
                <a:latin typeface="Aptos"/>
              </a:rPr>
              <a:t>CineMatch AI
(2026)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828800" y="4965192"/>
            <a:ext cx="233172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96" name="TextBox 95"/>
          <p:cNvSpPr txBox="1"/>
          <p:nvPr/>
        </p:nvSpPr>
        <p:spPr>
          <a:xfrm>
            <a:off x="1883664" y="5038344"/>
            <a:ext cx="22219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73648"/>
                </a:solidFill>
                <a:latin typeface="Aptos"/>
              </a:rPr>
              <a:t>Personalized Movie Discovery with Mood + Taste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160520" y="4965192"/>
            <a:ext cx="233172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98" name="TextBox 97"/>
          <p:cNvSpPr txBox="1"/>
          <p:nvPr/>
        </p:nvSpPr>
        <p:spPr>
          <a:xfrm>
            <a:off x="4215383" y="5038344"/>
            <a:ext cx="2221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73648"/>
                </a:solidFill>
                <a:latin typeface="Aptos"/>
              </a:rPr>
              <a:t>Proposed hybrid pipeline using content features, user interactions, mood and explainable match signals.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92240" y="4965192"/>
            <a:ext cx="242316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100" name="TextBox 99"/>
          <p:cNvSpPr txBox="1"/>
          <p:nvPr/>
        </p:nvSpPr>
        <p:spPr>
          <a:xfrm>
            <a:off x="6547103" y="5038344"/>
            <a:ext cx="2313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73648"/>
                </a:solidFill>
                <a:latin typeface="Aptos"/>
              </a:rPr>
              <a:t>Targets relevance, diversity, user trust and a unified movie-discovery experience.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15400" y="4965192"/>
            <a:ext cx="2423160" cy="1115568"/>
          </a:xfrm>
          <a:prstGeom prst="rect">
            <a:avLst/>
          </a:prstGeom>
          <a:solidFill>
            <a:srgbClr val="FFFFFF"/>
          </a:solidFill>
          <a:ln>
            <a:solidFill>
              <a:srgbClr val="DC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102" name="TextBox 101"/>
          <p:cNvSpPr txBox="1"/>
          <p:nvPr/>
        </p:nvSpPr>
        <p:spPr>
          <a:xfrm>
            <a:off x="8970264" y="5038344"/>
            <a:ext cx="23134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73648"/>
                </a:solidFill>
                <a:latin typeface="Aptos"/>
              </a:rPr>
              <a:t>Future work: larger datasets, ML evaluation, PostgreSQL deployment and cold-start handling.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70560" y="6281928"/>
            <a:ext cx="10652760" cy="438912"/>
          </a:xfrm>
          <a:prstGeom prst="roundRect">
            <a:avLst/>
          </a:prstGeom>
          <a:solidFill>
            <a:srgbClr val="F1EFFA"/>
          </a:solidFill>
          <a:ln>
            <a:solidFill>
              <a:srgbClr val="CD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104" name="TextBox 103"/>
          <p:cNvSpPr txBox="1"/>
          <p:nvPr/>
        </p:nvSpPr>
        <p:spPr>
          <a:xfrm>
            <a:off x="640080" y="6292179"/>
            <a:ext cx="10287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5848A0"/>
                </a:solidFill>
                <a:latin typeface="Aptos"/>
              </a:rPr>
              <a:t>Research takeaway: CineMatch AI combines established recommendation methods with mood-aware personalization and explainable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789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61434"/>
                </a:solidFill>
                <a:latin typeface="Aptos"/>
              </a:rPr>
              <a:t>Problem Gap Identification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731520" cy="41148"/>
          </a:xfrm>
          <a:prstGeom prst="rect">
            <a:avLst/>
          </a:prstGeom>
          <a:solidFill>
            <a:srgbClr val="EF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25603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EF5B51"/>
                </a:solidFill>
                <a:latin typeface="Aptos"/>
              </a:rPr>
              <a:t>Existing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4754880" cy="2008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 dirty="0"/>
              <a:t>• Often emphasize popularity or basic genre similarity.</a:t>
            </a:r>
          </a:p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 dirty="0"/>
              <a:t>• Limited personalization for new or changing user preferences.</a:t>
            </a:r>
          </a:p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 dirty="0"/>
              <a:t>• Recommendations can be difficult to interpret.</a:t>
            </a:r>
          </a:p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 dirty="0"/>
              <a:t>• Movie discovery and trailer exploration are often disconnected.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143000"/>
            <a:ext cx="4114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47A074"/>
                </a:solidFill>
                <a:latin typeface="Aptos"/>
              </a:rPr>
              <a:t>CineMatch AI gap addressed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572768"/>
            <a:ext cx="4800600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 dirty="0"/>
              <a:t>• Personal user profiles and secure authentication.</a:t>
            </a:r>
          </a:p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 dirty="0"/>
              <a:t>• Hybrid recommendation strategy for relevance and diversity.</a:t>
            </a:r>
          </a:p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 dirty="0"/>
              <a:t>• Mood-aware discovery as an additional preference signal.</a:t>
            </a:r>
          </a:p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 dirty="0"/>
              <a:t>• Explainable AI Match score and recommendation reasons.</a:t>
            </a:r>
          </a:p>
          <a:p>
            <a:pPr>
              <a:spcAft>
                <a:spcPts val="500"/>
              </a:spcAft>
              <a:defRPr sz="1300">
                <a:solidFill>
                  <a:srgbClr val="2D2D41"/>
                </a:solidFill>
                <a:latin typeface="Aptos"/>
              </a:defRPr>
            </a:pPr>
            <a:r>
              <a:rPr sz="1600" dirty="0"/>
              <a:t>• Integrated search, watchlist, movie details and trailers.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251960"/>
            <a:ext cx="9692640" cy="1051560"/>
          </a:xfrm>
          <a:prstGeom prst="roundRect">
            <a:avLst/>
          </a:prstGeom>
          <a:solidFill>
            <a:srgbClr val="F4F3FA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1" name="Rectangle 10"/>
          <p:cNvSpPr/>
          <p:nvPr/>
        </p:nvSpPr>
        <p:spPr>
          <a:xfrm>
            <a:off x="1097280" y="4251960"/>
            <a:ext cx="64008" cy="1051560"/>
          </a:xfrm>
          <a:prstGeom prst="rect">
            <a:avLst/>
          </a:prstGeom>
          <a:solidFill>
            <a:srgbClr val="5D4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1261872" y="4361688"/>
            <a:ext cx="941831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61434"/>
                </a:solidFill>
                <a:latin typeface="Aptos"/>
              </a:rPr>
              <a:t>Research Gap → Project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4727448"/>
            <a:ext cx="941831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69697D"/>
                </a:solidFill>
                <a:latin typeface="Aptos"/>
              </a:rPr>
              <a:t>Move from generic movie lists to a personalized, explainable and user-centered discovery experience.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20040"/>
            <a:ext cx="10789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61434"/>
                </a:solidFill>
                <a:latin typeface="Aptos"/>
              </a:rPr>
              <a:t>Innovation, Creativity, and Novelty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841248"/>
            <a:ext cx="731520" cy="41148"/>
          </a:xfrm>
          <a:prstGeom prst="rect">
            <a:avLst/>
          </a:prstGeom>
          <a:solidFill>
            <a:srgbClr val="EF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5669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61434"/>
                </a:solidFill>
                <a:latin typeface="Aptos"/>
              </a:rPr>
              <a:t>What makes CineMatch AI different?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114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EF5B51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00200"/>
            <a:ext cx="2103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5D4CAA"/>
                </a:solidFill>
                <a:latin typeface="Aptos"/>
              </a:rPr>
              <a:t>Mood + Taste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581912"/>
            <a:ext cx="73152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D2D41"/>
                </a:solidFill>
                <a:latin typeface="Aptos"/>
              </a:rPr>
              <a:t>Recommendations consider both long-term preferences and the user's current mood.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4114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EF5B51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560320"/>
            <a:ext cx="21031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5D4CAA"/>
                </a:solidFill>
                <a:latin typeface="Aptos"/>
              </a:rPr>
              <a:t>Explainable AI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542032"/>
            <a:ext cx="73152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D2D41"/>
                </a:solidFill>
                <a:latin typeface="Aptos"/>
              </a:rPr>
              <a:t>Each result can communicate why it is a strong match instead of showing only a score.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4114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EF5B51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20440"/>
            <a:ext cx="21031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5D4CAA"/>
                </a:solidFill>
                <a:latin typeface="Aptos"/>
              </a:rPr>
              <a:t>One Discovery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502152"/>
            <a:ext cx="7315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D2D41"/>
                </a:solidFill>
                <a:latin typeface="Aptos"/>
              </a:rPr>
              <a:t>Search, recommendations, watchlist, movie details and trailers are connected.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4114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EF5B51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480560"/>
            <a:ext cx="2103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5D4CAA"/>
                </a:solidFill>
                <a:latin typeface="Aptos"/>
              </a:rPr>
              <a:t>Personalized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522037"/>
            <a:ext cx="7315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D2D41"/>
                </a:solidFill>
                <a:latin typeface="Aptos"/>
              </a:rPr>
              <a:t>User interactions can continuously improve their preference profile.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69697D"/>
                </a:solidFill>
                <a:latin typeface="Aptos"/>
              </a:rPr>
              <a:t>Recommendation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69280"/>
            <a:ext cx="1645920" cy="502920"/>
          </a:xfrm>
          <a:prstGeom prst="roundRect">
            <a:avLst/>
          </a:prstGeom>
          <a:solidFill>
            <a:srgbClr val="F4F3FA"/>
          </a:solidFill>
          <a:ln>
            <a:solidFill>
              <a:srgbClr val="5D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777240" y="5788152"/>
            <a:ext cx="15544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5D4CAA"/>
                </a:solidFill>
                <a:latin typeface="Aptos"/>
              </a:rPr>
              <a:t>User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14016" y="5742432"/>
            <a:ext cx="320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69697D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5669280"/>
            <a:ext cx="1645920" cy="502920"/>
          </a:xfrm>
          <a:prstGeom prst="roundRect">
            <a:avLst/>
          </a:prstGeom>
          <a:solidFill>
            <a:srgbClr val="F4F3FA"/>
          </a:solidFill>
          <a:ln>
            <a:solidFill>
              <a:srgbClr val="5D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2788920" y="5687794"/>
            <a:ext cx="15544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5D4CAA"/>
                </a:solidFill>
                <a:latin typeface="Aptos"/>
              </a:rPr>
              <a:t>Content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5742432"/>
            <a:ext cx="320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69697D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5669280"/>
            <a:ext cx="1645920" cy="502920"/>
          </a:xfrm>
          <a:prstGeom prst="roundRect">
            <a:avLst/>
          </a:prstGeom>
          <a:solidFill>
            <a:srgbClr val="F4F3FA"/>
          </a:solidFill>
          <a:ln>
            <a:solidFill>
              <a:srgbClr val="5D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27" name="TextBox 26"/>
          <p:cNvSpPr txBox="1"/>
          <p:nvPr/>
        </p:nvSpPr>
        <p:spPr>
          <a:xfrm>
            <a:off x="4800600" y="5669280"/>
            <a:ext cx="15544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5D4CAA"/>
                </a:solidFill>
                <a:latin typeface="Aptos"/>
              </a:rPr>
              <a:t>Hybrid Ranking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5742432"/>
            <a:ext cx="320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69697D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5669280"/>
            <a:ext cx="1645920" cy="502920"/>
          </a:xfrm>
          <a:prstGeom prst="roundRect">
            <a:avLst/>
          </a:prstGeom>
          <a:solidFill>
            <a:srgbClr val="F4F3FA"/>
          </a:solidFill>
          <a:ln>
            <a:solidFill>
              <a:srgbClr val="5D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6812280" y="5788152"/>
            <a:ext cx="15544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5D4CAA"/>
                </a:solidFill>
                <a:latin typeface="Aptos"/>
              </a:rPr>
              <a:t>AI Explanation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9056" y="5742432"/>
            <a:ext cx="320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69697D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5669280"/>
            <a:ext cx="2057400" cy="502920"/>
          </a:xfrm>
          <a:prstGeom prst="roundRect">
            <a:avLst/>
          </a:prstGeom>
          <a:solidFill>
            <a:srgbClr val="F4F3FA"/>
          </a:solidFill>
          <a:ln>
            <a:solidFill>
              <a:srgbClr val="5D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33" name="TextBox 32"/>
          <p:cNvSpPr txBox="1"/>
          <p:nvPr/>
        </p:nvSpPr>
        <p:spPr>
          <a:xfrm>
            <a:off x="8823960" y="5788152"/>
            <a:ext cx="20116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5D4CAA"/>
                </a:solidFill>
                <a:latin typeface="Aptos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20040"/>
            <a:ext cx="107899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61434"/>
                </a:solidFill>
                <a:latin typeface="Aptos"/>
              </a:rPr>
              <a:t>Feasibility and Project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841248"/>
            <a:ext cx="731520" cy="41148"/>
          </a:xfrm>
          <a:prstGeom prst="rect">
            <a:avLst/>
          </a:prstGeom>
          <a:solidFill>
            <a:srgbClr val="EF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24688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5D4CAA"/>
                </a:solidFill>
                <a:latin typeface="Aptos"/>
              </a:rPr>
              <a:t>Technology </a:t>
            </a:r>
            <a:r>
              <a:rPr sz="1400" b="1" dirty="0">
                <a:solidFill>
                  <a:srgbClr val="5D4CAA"/>
                </a:solidFill>
                <a:latin typeface="Aptos"/>
              </a:rPr>
              <a:t>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4937760" cy="2351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D2D41"/>
                </a:solidFill>
                <a:latin typeface="Aptos"/>
              </a:defRPr>
            </a:pPr>
            <a:r>
              <a:rPr sz="1400" dirty="0"/>
              <a:t>• Frontend: React.js, JavaScript, CSS, Vite</a:t>
            </a:r>
          </a:p>
          <a:p>
            <a:pPr>
              <a:spcAft>
                <a:spcPts val="500"/>
              </a:spcAft>
              <a:defRPr sz="1050">
                <a:solidFill>
                  <a:srgbClr val="2D2D41"/>
                </a:solidFill>
                <a:latin typeface="Aptos"/>
              </a:defRPr>
            </a:pPr>
            <a:r>
              <a:rPr sz="1400" dirty="0"/>
              <a:t>• Backend: Python, FastAPI, REST APIs</a:t>
            </a:r>
          </a:p>
          <a:p>
            <a:pPr>
              <a:spcAft>
                <a:spcPts val="500"/>
              </a:spcAft>
              <a:defRPr sz="1050">
                <a:solidFill>
                  <a:srgbClr val="2D2D41"/>
                </a:solidFill>
                <a:latin typeface="Aptos"/>
              </a:defRPr>
            </a:pPr>
            <a:r>
              <a:rPr sz="1400" dirty="0"/>
              <a:t>• Database: SQLite for prototype; </a:t>
            </a:r>
            <a:r>
              <a:rPr lang="en-US" sz="1400" dirty="0"/>
              <a:t>My</a:t>
            </a:r>
            <a:r>
              <a:rPr sz="1400" dirty="0"/>
              <a:t>SQL planned for production</a:t>
            </a:r>
          </a:p>
          <a:p>
            <a:pPr>
              <a:spcAft>
                <a:spcPts val="500"/>
              </a:spcAft>
              <a:defRPr sz="1050">
                <a:solidFill>
                  <a:srgbClr val="2D2D41"/>
                </a:solidFill>
                <a:latin typeface="Aptos"/>
              </a:defRPr>
            </a:pPr>
            <a:r>
              <a:rPr sz="1400" dirty="0"/>
              <a:t>• Security: PBKDF2-HMAC-SHA256 password hashing + session tokens</a:t>
            </a:r>
          </a:p>
          <a:p>
            <a:pPr>
              <a:spcAft>
                <a:spcPts val="500"/>
              </a:spcAft>
              <a:defRPr sz="1050">
                <a:solidFill>
                  <a:srgbClr val="2D2D41"/>
                </a:solidFill>
                <a:latin typeface="Aptos"/>
              </a:defRPr>
            </a:pPr>
            <a:r>
              <a:rPr sz="1400" dirty="0"/>
              <a:t>• Trailer integration: YouTube embedded trailers</a:t>
            </a:r>
          </a:p>
          <a:p>
            <a:pPr>
              <a:spcAft>
                <a:spcPts val="500"/>
              </a:spcAft>
              <a:defRPr sz="1050">
                <a:solidFill>
                  <a:srgbClr val="2D2D41"/>
                </a:solidFill>
                <a:latin typeface="Aptos"/>
              </a:defRPr>
            </a:pPr>
            <a:r>
              <a:rPr sz="1400" dirty="0"/>
              <a:t>• Recommendation layer: content-based + collaborative/hybrid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051560"/>
            <a:ext cx="1828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47A074"/>
                </a:solidFill>
                <a:latin typeface="Aptos"/>
              </a:rPr>
              <a:t>Feasibility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417320"/>
            <a:ext cx="4800600" cy="160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D2D41"/>
                </a:solidFill>
                <a:latin typeface="Aptos"/>
              </a:defRPr>
            </a:pPr>
            <a:r>
              <a:rPr sz="1200" dirty="0"/>
              <a:t>• Technically feasible with open-source tools and public movie metadata.</a:t>
            </a:r>
          </a:p>
          <a:p>
            <a:pPr>
              <a:spcAft>
                <a:spcPts val="500"/>
              </a:spcAft>
              <a:defRPr sz="1050">
                <a:solidFill>
                  <a:srgbClr val="2D2D41"/>
                </a:solidFill>
                <a:latin typeface="Aptos"/>
              </a:defRPr>
            </a:pPr>
            <a:r>
              <a:rPr sz="1200" dirty="0"/>
              <a:t>• Modular architecture allows the </a:t>
            </a:r>
            <a:r>
              <a:rPr sz="1400" dirty="0"/>
              <a:t>recommender</a:t>
            </a:r>
            <a:r>
              <a:rPr sz="1200" dirty="0"/>
              <a:t> to improve independently.</a:t>
            </a:r>
          </a:p>
          <a:p>
            <a:pPr>
              <a:spcAft>
                <a:spcPts val="500"/>
              </a:spcAft>
              <a:defRPr sz="1050">
                <a:solidFill>
                  <a:srgbClr val="2D2D41"/>
                </a:solidFill>
                <a:latin typeface="Aptos"/>
              </a:defRPr>
            </a:pPr>
            <a:r>
              <a:rPr sz="1200" dirty="0"/>
              <a:t>• Prototype can run locally and later be deployed to cloud services.</a:t>
            </a:r>
          </a:p>
          <a:p>
            <a:pPr>
              <a:spcAft>
                <a:spcPts val="500"/>
              </a:spcAft>
              <a:defRPr sz="1050">
                <a:solidFill>
                  <a:srgbClr val="2D2D41"/>
                </a:solidFill>
                <a:latin typeface="Aptos"/>
              </a:defRPr>
            </a:pPr>
            <a:r>
              <a:rPr sz="1200" dirty="0"/>
              <a:t>• Main risks: data quality, cold-start users and recommendation evaluation.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86200"/>
            <a:ext cx="24688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5D4CAA"/>
                </a:solidFill>
                <a:latin typeface="Aptos"/>
              </a:rPr>
              <a:t>Project</a:t>
            </a:r>
            <a:r>
              <a:rPr sz="1200" b="1" dirty="0">
                <a:solidFill>
                  <a:srgbClr val="5D4CAA"/>
                </a:solidFill>
                <a:latin typeface="Aptos"/>
              </a:rPr>
              <a:t> 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51960"/>
            <a:ext cx="1828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161434"/>
                </a:solidFill>
                <a:latin typeface="Aptos"/>
              </a:rPr>
              <a:t>1. Research &amp;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17720"/>
            <a:ext cx="1828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rgbClr val="69697D"/>
                </a:solidFill>
                <a:latin typeface="Aptos"/>
              </a:rPr>
              <a:t>Weeks 1–2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919472"/>
            <a:ext cx="1691640" cy="438912"/>
          </a:xfrm>
          <a:prstGeom prst="roundRect">
            <a:avLst/>
          </a:prstGeom>
          <a:solidFill>
            <a:srgbClr val="5D4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2743200" y="4251960"/>
            <a:ext cx="1828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161434"/>
                </a:solidFill>
                <a:latin typeface="Aptos"/>
              </a:rPr>
              <a:t>2. UI &amp; 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617720"/>
            <a:ext cx="1828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rgbClr val="69697D"/>
                </a:solidFill>
                <a:latin typeface="Aptos"/>
              </a:rPr>
              <a:t>Weeks 3–4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4919472"/>
            <a:ext cx="1691640" cy="438912"/>
          </a:xfrm>
          <a:prstGeom prst="roundRect">
            <a:avLst/>
          </a:prstGeom>
          <a:solidFill>
            <a:srgbClr val="EF5B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4800600" y="4251960"/>
            <a:ext cx="1828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161434"/>
                </a:solidFill>
                <a:latin typeface="Aptos"/>
              </a:rPr>
              <a:t>3. Recommendation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617720"/>
            <a:ext cx="1828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rgbClr val="69697D"/>
                </a:solidFill>
                <a:latin typeface="Aptos"/>
              </a:rPr>
              <a:t>Weeks 5–7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4919472"/>
            <a:ext cx="1691640" cy="438912"/>
          </a:xfrm>
          <a:prstGeom prst="roundRect">
            <a:avLst/>
          </a:prstGeom>
          <a:solidFill>
            <a:srgbClr val="47A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6858000" y="4251960"/>
            <a:ext cx="1828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161434"/>
                </a:solidFill>
                <a:latin typeface="Aptos"/>
              </a:rPr>
              <a:t>4. Testing &amp;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617720"/>
            <a:ext cx="1828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rgbClr val="69697D"/>
                </a:solidFill>
                <a:latin typeface="Aptos"/>
              </a:rPr>
              <a:t>Weeks 8–9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919472"/>
            <a:ext cx="1691640" cy="438912"/>
          </a:xfrm>
          <a:prstGeom prst="roundRect">
            <a:avLst/>
          </a:prstGeom>
          <a:solidFill>
            <a:srgbClr val="9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8915400" y="4251960"/>
            <a:ext cx="1828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161434"/>
                </a:solidFill>
                <a:latin typeface="Aptos"/>
              </a:rPr>
              <a:t>5. Deployment &amp;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4617720"/>
            <a:ext cx="1828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rgbClr val="69697D"/>
                </a:solidFill>
                <a:latin typeface="Aptos"/>
              </a:rPr>
              <a:t>Weeks 10–11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4919472"/>
            <a:ext cx="1691640" cy="438912"/>
          </a:xfrm>
          <a:prstGeom prst="roundRect">
            <a:avLst/>
          </a:prstGeom>
          <a:solidFill>
            <a:srgbClr val="16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27" name="Rounded Rectangle 26"/>
          <p:cNvSpPr/>
          <p:nvPr/>
        </p:nvSpPr>
        <p:spPr>
          <a:xfrm>
            <a:off x="717804" y="5634390"/>
            <a:ext cx="10058400" cy="594360"/>
          </a:xfrm>
          <a:prstGeom prst="roundRect">
            <a:avLst/>
          </a:prstGeom>
          <a:solidFill>
            <a:srgbClr val="F4F3FA"/>
          </a:solidFill>
          <a:ln>
            <a:solidFill>
              <a:srgbClr val="E1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28" name="Rectangle 27"/>
          <p:cNvSpPr/>
          <p:nvPr/>
        </p:nvSpPr>
        <p:spPr>
          <a:xfrm>
            <a:off x="738379" y="5632704"/>
            <a:ext cx="45719" cy="594360"/>
          </a:xfrm>
          <a:prstGeom prst="rect">
            <a:avLst/>
          </a:prstGeom>
          <a:solidFill>
            <a:srgbClr val="5D4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850392" y="5687568"/>
            <a:ext cx="97840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161434"/>
                </a:solidFill>
                <a:latin typeface="Aptos"/>
              </a:rPr>
              <a:t>Expected Review-1 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" y="5993892"/>
            <a:ext cx="978408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69697D"/>
                </a:solidFill>
                <a:latin typeface="Aptos"/>
              </a:rPr>
              <a:t>Working UI prototype + authentication backend + recommendation architecture + defined implementation plan.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843</Words>
  <Application>Microsoft Office PowerPoint</Application>
  <PresentationFormat>Widescreen</PresentationFormat>
  <Paragraphs>155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Cambria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srikanth ch</dc:creator>
  <cp:lastModifiedBy>Microsoft account</cp:lastModifiedBy>
  <cp:revision>41</cp:revision>
  <dcterms:created xsi:type="dcterms:W3CDTF">2026-08-08T06:33:56Z</dcterms:created>
  <dcterms:modified xsi:type="dcterms:W3CDTF">2026-09-11T03:48:06Z</dcterms:modified>
</cp:coreProperties>
</file>